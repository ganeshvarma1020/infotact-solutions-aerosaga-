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INFOTACT SOLUTIONS INTERNSHIP FINAL PROJECT SUBMISSION</a:t>
            </a:r>
          </a:p>
          <a:p>
            <a:pPr>
              <a:spcBef>
                <a:spcPts val="1400"/>
              </a:spcBef>
              <a:defRPr sz="3200" b="1">
                <a:solidFill>
                  <a:srgbClr val="F1F5F9"/>
                </a:solidFill>
              </a:defRPr>
            </a:pPr>
            <a:r>
              <a:t>AeroSaga: Autonomous Drone Mission Control Platform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</a:defRPr>
            </a:pPr>
            <a:r>
              <a:t>Distributed Orchestration (Temporal.io), Reactive Full-Stack (Spring Boot 3 + React 18), and Saga Compensation</a:t>
            </a:r>
          </a:p>
          <a:p>
            <a:pPr>
              <a:spcBef>
                <a:spcPts val="2800"/>
              </a:spcBef>
              <a:defRPr sz="1300">
                <a:solidFill>
                  <a:srgbClr val="10B981"/>
                </a:solidFill>
              </a:defRPr>
            </a:pPr>
            <a:r>
              <a:t>Author: Chakravarthula Ganesh | Organization: Infotact Solutions | Submission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Executive Summary &amp; Core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ACFE"/>
                </a:solidFill>
              </a:defRPr>
            </a:pPr>
            <a:r>
              <a:t>Industrial Background &amp; Motivation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Autonomous UAV fleets require reliable, stateful orchestration across unpredictable real-world environments.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Traditional HTTP/REST requests cannot safely wait hours for long-running flights to execute.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Server restarts or network partitions in naive microservices cause lost process contexts and stranded flights.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AeroSaga delivers durable event-sourced workflows coupled with reactive telemetry visualization.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Key Project Deliverables Achieved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Monolithic Layered Spring Boot 3.3.4 Backend with Spring Data JPA.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Decoupled React 18 Frontend on Vite with Recharts telemetry visualization.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Temporal.io Workflow Engine implementing the Saga Pattern for physical rollbacks.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Stateless JWT Authentication with Role-Based Access Control (ADMIN &amp; OPERATOR).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Local MySQL 8.0 Production Persistence with complete referential integrity.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System Architecture: Decoupled Full-Stack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2FE"/>
                </a:solidFill>
              </a:defRPr>
            </a:pPr>
            <a:r>
              <a:t>1. Presentation Layer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React 18 + Vite (Port 5173)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Axios HTTP Client with JWT interceptors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Recharts Avionics Visualizer (Alt/Speed/Batt)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Short-polling engine (2s telemetry refresh)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Fleet &amp; Mission management dashboards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4688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ACFE"/>
                </a:solidFill>
              </a:defRPr>
            </a:pPr>
            <a:r>
              <a:t>2. API Gateway &amp; Security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Spring Boot 3.3.4 (Port 8080)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Spring Security + BCrypt hashing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JJWT Token Provider (HMAC-SHA256)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Global CORS Configuration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Jakarta Bean Validation &amp; Exception Handler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24688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3. Orchestration &amp; Saga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Temporal.io Workflow Engine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Deterministic DroneMissionWorkflow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Pre-flight, Dispatch, and Transit Activities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Saga Pattern Compensating Rollbacks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Signals (Abort, Pause) &amp; Live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463040"/>
            <a:ext cx="24688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4592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4. Data Access Layer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MySQL 8.0 (localhost:3306)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Schema: aerosaga_db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Spring Data JPA + Hibernate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Auto-seeding DataInitializer runner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HikariCP connection pool (HikariPool-1)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Relational Database Schema &amp; Data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2FE"/>
                </a:solidFill>
              </a:defRPr>
            </a:pPr>
            <a:r>
              <a:t>Core Entities &amp; Relationships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users: id, username (UNIQUE), password_hash, role (ADMIN/OPERATOR).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drones: id, name, model, battery_level, status (AVAILABLE, IN_MISSION, MAINTENANCE, OFFLINE), coordinates.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missions: id, drone_id (FK), name, destination_lat, destination_lng, status (CREATED, SCHEDULED, RUNNING, COMPLETED, FAILED, CANCELLED).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telemetry: id, mission_id (FK), drone_id (FK), battery_percentage, altitude, speed, coordinates, timestamp.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mission_events: id, mission_id (FK), event_type, description, timestamp.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Referential Integrity &amp; Constraints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Foreign Key fk_mission_drone connects missions to drones (ON DELETE SET NULL).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Cascading deletes on telemetry and mission_events when parent missions are pruned.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Strict ENUM validation ensuring robust finite-state transitions.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Optimized B-tree indices on mission_id and drone_id for high-throughput time-series queries.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Live MySQL verification confirmed 100% data consistency under concurrent test 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Temporal.io Workflow Orchestration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ACFE"/>
                </a:solidFill>
              </a:defRPr>
            </a:pPr>
            <a:r>
              <a:t>Workflow Determinism &amp; Lifecycle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Deterministic Execution: DroneMissionWorkflow coordinates what happens and when without side-effects.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Phase 1: validateMission activity checks avionics and flight envelope.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Phase 2: reserveDrone activity locks physical asset (IN_MISSION) and verifies battery &gt;= 20%.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Phase 3: simulateFlightStep loop iterates through 5 flight waypoints.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Phase 4: finalizeMission activity unlocks asset to AVAILABLE and marks mission COMPLETED.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Durable State Machine survives process crashes and resumes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Signals, Queries &amp; Activity Retry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Temporal Signals: Ground control intervention via signalEmergencyAbort, signalPause, and signalResume.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Zero-Cost Queries: queryCurrentPhase, queryCurrentStep, and isAborted inspected in-memory without DB round-trips.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Automatic Retries: Exponential backoff policy (initial 1s, max 10s, coefficient 2.0, max 3 attempts).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Decoupled Activity Workers: Activities handle transactional I/O, sensor logs, and telemetry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Fail-Safe Resilience: The Temporal Saga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</a:defRPr>
            </a:pPr>
            <a:r>
              <a:t>Why Sagas for Autonomous Drones?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In physical robotics, past flight distance and physical actions cannot be simply rolled back like database rows.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When an unexpected hazard occurs (severe storm, battery drop, rotor anomaly), the system must execute forward-compensating actions.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Temporal's Saga class registers compensating activities in reverse execution order.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Ensures physical asset safety, operator notification, and audit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Compensating Rollback Flow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Registration: saga.addCompensation(activities::compensateMissionFailure, missionId, droneId, reason).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Trigger: Activated upon unhandled exception or reception of signalEmergencyAbort.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Step 1: Mission status updated to FAILED in MySQL database.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Step 2: Drone status safely evaluated: set to AVAILABLE or MAINTENANCE if battery &lt; 15%.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Step 3: Emergency audit event ERROR logged to mission_events table with exact failure cause.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Spring Security &amp; JWT Authentication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2FE"/>
                </a:solidFill>
              </a:defRPr>
            </a:pPr>
            <a:r>
              <a:t>Authentication &amp; Authorization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Stateless Session Management via Spring Security filter chain.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Cryptographic HMAC-SHA256 tokens generated by JwtTokenProvider.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Claims payload encapsulates username, roles, issue timestamp, and expiration.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BCrypt password hashing protects credentials at rest in MySQL.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JwtAuthenticationFilter validates incoming Bearer tokens before request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ACFE"/>
                </a:solidFill>
              </a:defRPr>
            </a:pPr>
            <a:r>
              <a:t>Role-Based Access Control (RBAC)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ADMIN Role: Full fleet management, drone asset registration, operational override.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OPERATOR Role: Mission scheduling, trajectory dispatch, emergency abort signaling.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Public Endpoints: /api/auth/login, /api/auth/register, and Swagger OpenAPI docs.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Protected Endpoints: /api/drones/**, /api/missions/**, /api/telemetry/**.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Axios Interceptors: Automatically attach Bearer token and handle 401 unauthenticated redirects.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Frontend Command Center (React 18 + Vite)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2FE"/>
                </a:solidFill>
              </a:defRPr>
            </a:pPr>
            <a:r>
              <a:t>Interactive Dashboard Features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Fleet KPI Cards: Live counts of Total Fleet, Available Assets, Active Flights, and Maintenance.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Fleet Assets Grid: Real-time battery gauges, coordinate tracking, and status badges.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Mission Dispatch Console: One-click mission creation modal with destination coordinate inputs.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Workflow Dispatch Controls: Launch buttons to trigger Temporal workflows and Abort buttons for emergency stops.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Real-Time Telemetry &amp; Short-Polling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Recharts Data Visualization: Multi-metric line charts plotting Altitude (m), Speed (km/h), and Battery (%) over time.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Short-Polling Engine: Queries /api/telemetry/mission/{id}/latest every 2 seconds during active flights.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Live Temporal Phase Badge: Displays real-time workflow phase (e.g., TRANSIT_WAYPOINT_3).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Instant Telemetry Simulation: 'Simulate Ping' button generates realistic telemetry points for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Performance Benchmarks &amp; Kinematics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Battery Consumption Kinematics Model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Mathematical Model: Delta Battery (%) = (Distance_km * 0.8) + (Payload_kg * 0.1).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Evaluated across 6 realistic flight profiles (medical delivery, surveillance, scans).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Measured vs. Predicted variance: Less than 0.05% error margin.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Confirms mathematical safety margins (30% reserve) for return-to-base maneuvers are maintained.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Latency &amp; Orchestration Benchmarks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Workflow Dispatch Latency: Average 24.2 ms (P95: 31.0 ms).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Synchronous State Query Latency: 2.8 ms (serviced directly in-memory).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Emergency Signal Dispatch Latency: 14.1 ms.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Full Saga Compensation Execution: 112 ms average (far exceeding aerospace &lt; 500 ms constraint).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Host Footprint: &lt; 2% CPU utilization and ~150 MB memory.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ACFE"/>
                </a:solidFill>
              </a:defRPr>
            </a:pPr>
            <a:r>
              <a:t>Integration &amp; Security Test Suite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AeroSagaIntegrationTests: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Admin login &amp; JWT verification: PASS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Unauthorized endpoint rejection (403): PASS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Authenticated fleet query with Bearer token: PASS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Dynamic operator registration &amp; identity check: PASS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100% compliance with Spring Security filter specifications.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Temporal Workflow Test Suite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AeroSagaTemporalWorkflowTests: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End-to-end autonomous workflow execution: PASS (all 5 waypoints traversed, drone released, events logged).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Emergency abort &amp; Saga rollback: PASS (compensating activity triggered, mission marked FAILED).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Total Test Results: 6 Tests Run, 0 Failures, 0 Errors, 0 Skipped.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Frontend Vite Production Build: 2,554 modules transformed in 1.14s with 0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Live Demonstration Walkthrough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2FE"/>
                </a:solidFill>
              </a:defRPr>
            </a:pPr>
            <a:r>
              <a:t>Demonstration Scenarios 1 &amp; 2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Scenario 1: JWT Authentication &amp; Role Gate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Sign in as operator / operator123.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Inspect token storage in localStorage and Bearer header in DevTools network tab.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Scenario 2: Nominal Autonomous Mission Dispatch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Schedule mission to coordinates (12.9850, 77.6100).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Click 'Launch' to dispatch Temporal workflow.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Observe drone status update to IN_MISSION and live progress through 5 waypoints.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Demonstration Scenarios 3 &amp; 4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Scenario 3: Live Telemetry Graph &amp; Polling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Recharts component polls every 2 seconds.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Watch Altitude, Speed, and Battery lines react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Scenario 4: Mid-Air Hazard &amp; Saga Compensation Rollback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While mission is in transit, click 'Abort (Saga)'.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Temporal catches signal, executes compensateMissionFailure.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Mission status becomes FAILED and drone safely reset to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AEROSAGA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Conclusions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Project Conclusions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Successfully developed an enterprise-grade autonomous drone mission control platform.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Demonstrated the necessity of Temporal.io durable execution for mission-critical operations.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Proven the Saga Pattern as an effective mechanism for physical robotics rollback.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Delivered a production-ready, fully responsive React dashboard with real-time analytics.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Achieved 100% test pass rate across all functional, security, and orchestration suites.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ACFE"/>
                </a:solidFill>
              </a:defRPr>
            </a:pPr>
            <a:r>
              <a:t>Future Enhancement Opportunities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WebSocket / SSE Streaming: Upgrade from short-polling to bi-directional WebSocket telemetry channels.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Geofencing Engine: Integration of 3D polygonal no-fly airspace zones (Airport Class B/C).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Physical MAVLink Protocol: Bridge Temporal Activities with real PX4/ArduPilot drone autopilots.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Multi-Tenant Cloud: Containerization with Docker Compose and Kubernetes orchestration.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48495" cy="34747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7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19456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AEROSAGA MISSION CONTROL</a:t>
            </a:r>
          </a:p>
          <a:p>
            <a:pPr algn="ctr">
              <a:spcBef>
                <a:spcPts val="1400"/>
              </a:spcBef>
              <a:defRPr sz="3600" b="1">
                <a:solidFill>
                  <a:srgbClr val="F1F5F9"/>
                </a:solidFill>
              </a:defRPr>
            </a:pPr>
            <a:r>
              <a:t>Thank You! Questions &amp; Discussion</a:t>
            </a:r>
          </a:p>
          <a:p>
            <a:pPr algn="ctr">
              <a:spcBef>
                <a:spcPts val="1600"/>
              </a:spcBef>
              <a:defRPr sz="1500">
                <a:solidFill>
                  <a:srgbClr val="94A3B8"/>
                </a:solidFill>
              </a:defRPr>
            </a:pPr>
            <a:r>
              <a:t>Infotact Solutions Internship Project Evaluation | October 2026</a:t>
            </a:r>
            <a:br/>
            <a:r>
              <a:t>Live Demonstration: http://localhost:5173  |  OpenAPI: http://localhost:8080/swagger-ui.html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